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50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553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D0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C9B8F0">
              <a:alpha val="4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-1371600" y="2743200"/>
            <a:ext cx="4114800" cy="4114800"/>
          </a:xfrm>
          <a:prstGeom prst="ellipse">
            <a:avLst/>
          </a:prstGeom>
          <a:solidFill>
            <a:srgbClr val="A8E6CF">
              <a:alpha val="5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3200400" y="3474720"/>
            <a:ext cx="2743200" cy="2743200"/>
          </a:xfrm>
          <a:prstGeom prst="ellipse">
            <a:avLst/>
          </a:prstGeom>
          <a:solidFill>
            <a:srgbClr val="FFD6AA">
              <a:alpha val="4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A8D8EA">
              <a:alpha val="4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201168" cy="201168"/>
          </a:xfrm>
          <a:prstGeom prst="ellipse">
            <a:avLst/>
          </a:prstGeom>
          <a:solidFill>
            <a:srgbClr val="F7A8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005840" y="1234440"/>
            <a:ext cx="201168" cy="201168"/>
          </a:xfrm>
          <a:prstGeom prst="ellipse">
            <a:avLst/>
          </a:prstGeom>
          <a:solidFill>
            <a:srgbClr val="C9B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325880" y="1234440"/>
            <a:ext cx="201168" cy="201168"/>
          </a:xfrm>
          <a:prstGeom prst="ellipse">
            <a:avLst/>
          </a:prstGeom>
          <a:solidFill>
            <a:srgbClr val="A8E6C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5C3D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Walking With Baby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07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赤ちゃん</a:t>
            </a:r>
            <a:r>
              <a:rPr lang="ja-JP" altLang="en-US" sz="1600" dirty="0">
                <a:solidFill>
                  <a:srgbClr val="E07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とのお散歩を</a:t>
            </a:r>
            <a:r>
              <a:rPr lang="en-US" sz="1600" dirty="0">
                <a:solidFill>
                  <a:srgbClr val="E07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en-US" sz="1600" dirty="0" err="1">
                <a:solidFill>
                  <a:srgbClr val="E07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もっと楽しく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C3D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子育て世代が抱える外出のハードル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28016" cy="128016"/>
          </a:xfrm>
          <a:prstGeom prst="ellipse">
            <a:avLst/>
          </a:prstGeom>
          <a:solidFill>
            <a:srgbClr val="F7A8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704088" y="850392"/>
            <a:ext cx="128016" cy="128016"/>
          </a:xfrm>
          <a:prstGeom prst="ellipse">
            <a:avLst/>
          </a:prstGeom>
          <a:solidFill>
            <a:srgbClr val="C9B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905256" y="850392"/>
            <a:ext cx="128016" cy="128016"/>
          </a:xfrm>
          <a:prstGeom prst="ellipse">
            <a:avLst/>
          </a:prstGeom>
          <a:solidFill>
            <a:srgbClr val="A8E6C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106424" y="850392"/>
            <a:ext cx="128016" cy="128016"/>
          </a:xfrm>
          <a:prstGeom prst="ellipse">
            <a:avLst/>
          </a:prstGeom>
          <a:solidFill>
            <a:srgbClr val="FFD6A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307592" y="850392"/>
            <a:ext cx="128016" cy="128016"/>
          </a:xfrm>
          <a:prstGeom prst="ellipse">
            <a:avLst/>
          </a:prstGeom>
          <a:solidFill>
            <a:srgbClr val="A8D8E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3977640" cy="1691640"/>
          </a:xfrm>
          <a:prstGeom prst="roundRect">
            <a:avLst>
              <a:gd name="adj" fmla="val 9730"/>
            </a:avLst>
          </a:prstGeom>
          <a:solidFill>
            <a:srgbClr val="FEF0F4"/>
          </a:solidFill>
          <a:ln w="19050">
            <a:solidFill>
              <a:srgbClr val="F7A8B8"/>
            </a:solidFill>
            <a:prstDash val="solid"/>
          </a:ln>
          <a:effectLst>
            <a:outerShdw blurRad="76200" dist="38100" dir="8100000" algn="bl" rotWithShape="0">
              <a:srgbClr val="E8C0C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576072" y="12344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7A8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188720" y="12527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情報の不安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" y="18288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赤ちゃん連れの外出は</a:t>
            </a:r>
            <a:endParaRPr lang="en-US" sz="1300" dirty="0"/>
          </a:p>
          <a:p>
            <a:pPr marL="0" indent="0" algn="l">
              <a:buNone/>
            </a:pPr>
            <a:r>
              <a:rPr lang="ja-JP" altLang="en-US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赤ちゃん連れ</a:t>
            </a:r>
            <a:r>
              <a:rPr lang="en-US" altLang="ja-JP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r>
              <a:rPr lang="ja-JP" altLang="en-US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分からず不安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3977640" cy="1691640"/>
          </a:xfrm>
          <a:prstGeom prst="roundRect">
            <a:avLst>
              <a:gd name="adj" fmla="val 9730"/>
            </a:avLst>
          </a:prstGeom>
          <a:solidFill>
            <a:srgbClr val="F3F0FF"/>
          </a:solidFill>
          <a:ln w="19050">
            <a:solidFill>
              <a:srgbClr val="C9B8F0"/>
            </a:solidFill>
            <a:prstDash val="solid"/>
          </a:ln>
          <a:effectLst>
            <a:outerShdw blurRad="76200" dist="38100" dir="8100000" algn="bl" rotWithShape="0">
              <a:srgbClr val="E8C0C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828032" y="12344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9B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440680" y="12527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トイレ・授乳室が不明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28032" y="182880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トイレ・授乳室の場所が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事前に調べにくい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2834640"/>
            <a:ext cx="3977640" cy="1691640"/>
          </a:xfrm>
          <a:prstGeom prst="roundRect">
            <a:avLst>
              <a:gd name="adj" fmla="val 9730"/>
            </a:avLst>
          </a:prstGeom>
          <a:solidFill>
            <a:srgbClr val="EDFBF5"/>
          </a:solidFill>
          <a:ln w="19050">
            <a:solidFill>
              <a:srgbClr val="A8E6CF"/>
            </a:solidFill>
            <a:prstDash val="solid"/>
          </a:ln>
          <a:effectLst>
            <a:outerShdw blurRad="76200" dist="38100" dir="8100000" algn="bl" rotWithShape="0">
              <a:srgbClr val="E8C0C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576072" y="3017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A8E6C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1188720" y="30358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ルート計画が大変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6072" y="36118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「ちょうどいい距離・時間」の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散歩ルートを自分で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組み立てるのが大変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834640"/>
            <a:ext cx="3977640" cy="1691640"/>
          </a:xfrm>
          <a:prstGeom prst="roundRect">
            <a:avLst>
              <a:gd name="adj" fmla="val 9730"/>
            </a:avLst>
          </a:prstGeom>
          <a:solidFill>
            <a:srgbClr val="FFF5E8"/>
          </a:solidFill>
          <a:ln w="19050">
            <a:solidFill>
              <a:srgbClr val="FFD6AA"/>
            </a:solidFill>
            <a:prstDash val="solid"/>
          </a:ln>
          <a:effectLst>
            <a:outerShdw blurRad="76200" dist="38100" dir="8100000" algn="bl" rotWithShape="0">
              <a:srgbClr val="E8C0C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828032" y="3017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D6A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440680" y="30358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地域への愛着が薄い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28032" y="36118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ママ・パパを応援してくれる</a:t>
            </a:r>
            <a:endParaRPr lang="en-US" altLang="ja-JP" sz="1300" dirty="0">
              <a:solidFill>
                <a:srgbClr val="7A5C6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r>
              <a:rPr lang="en-US" sz="1300" dirty="0" err="1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地域の店舗・施設を知る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機会が少なく、地元への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愛着が生まれにくい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C3D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Walking With Baby とは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28016" cy="128016"/>
          </a:xfrm>
          <a:prstGeom prst="ellipse">
            <a:avLst/>
          </a:prstGeom>
          <a:solidFill>
            <a:srgbClr val="F7A8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704088" y="850392"/>
            <a:ext cx="128016" cy="128016"/>
          </a:xfrm>
          <a:prstGeom prst="ellipse">
            <a:avLst/>
          </a:prstGeom>
          <a:solidFill>
            <a:srgbClr val="C9B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905256" y="850392"/>
            <a:ext cx="128016" cy="128016"/>
          </a:xfrm>
          <a:prstGeom prst="ellipse">
            <a:avLst/>
          </a:prstGeom>
          <a:solidFill>
            <a:srgbClr val="A8E6C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106424" y="850392"/>
            <a:ext cx="128016" cy="128016"/>
          </a:xfrm>
          <a:prstGeom prst="ellipse">
            <a:avLst/>
          </a:prstGeom>
          <a:solidFill>
            <a:srgbClr val="FFD6A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307592" y="850392"/>
            <a:ext cx="128016" cy="128016"/>
          </a:xfrm>
          <a:prstGeom prst="ellipse">
            <a:avLst/>
          </a:prstGeom>
          <a:solidFill>
            <a:srgbClr val="A8D8E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8321040" cy="731520"/>
          </a:xfrm>
          <a:prstGeom prst="roundRect">
            <a:avLst>
              <a:gd name="adj" fmla="val 18750"/>
            </a:avLst>
          </a:prstGeom>
          <a:solidFill>
            <a:srgbClr val="F7A8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11480" y="105156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気分と時間を選ぶだけで、赤ちゃん</a:t>
            </a:r>
            <a:r>
              <a:rPr lang="ja-JP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とママパパに</a:t>
            </a: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優しい</a:t>
            </a:r>
            <a:r>
              <a:rPr lang="ja-JP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</a:t>
            </a:r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散歩ルートを自動提案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2011680"/>
            <a:ext cx="2697480" cy="2743200"/>
          </a:xfrm>
          <a:prstGeom prst="roundRect">
            <a:avLst>
              <a:gd name="adj" fmla="val 6102"/>
            </a:avLst>
          </a:prstGeom>
          <a:solidFill>
            <a:srgbClr val="F3F0FF"/>
          </a:solidFill>
          <a:ln w="19050">
            <a:solidFill>
              <a:srgbClr val="C9B8F0"/>
            </a:solidFill>
            <a:prstDash val="solid"/>
          </a:ln>
          <a:effectLst>
            <a:outerShdw blurRad="76200" dist="38100" dir="8100000" algn="bl" rotWithShape="0">
              <a:srgbClr val="E8C0C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502920" y="2103120"/>
            <a:ext cx="2514600" cy="502920"/>
          </a:xfrm>
          <a:prstGeom prst="roundRect">
            <a:avLst>
              <a:gd name="adj" fmla="val 21818"/>
            </a:avLst>
          </a:prstGeom>
          <a:solidFill>
            <a:srgbClr val="C9B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103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対象ユーザー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74320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さいたま市在住・在来の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乳幼児を持つ保護者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19272" y="2011680"/>
            <a:ext cx="2697480" cy="2743200"/>
          </a:xfrm>
          <a:prstGeom prst="roundRect">
            <a:avLst>
              <a:gd name="adj" fmla="val 6102"/>
            </a:avLst>
          </a:prstGeom>
          <a:solidFill>
            <a:srgbClr val="EDFBF5"/>
          </a:solidFill>
          <a:ln w="19050">
            <a:solidFill>
              <a:srgbClr val="A8E6CF"/>
            </a:solidFill>
            <a:prstDash val="solid"/>
          </a:ln>
          <a:effectLst>
            <a:outerShdw blurRad="76200" dist="38100" dir="8100000" algn="bl" rotWithShape="0">
              <a:srgbClr val="E8C0C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3410712" y="2103120"/>
            <a:ext cx="2514600" cy="502920"/>
          </a:xfrm>
          <a:prstGeom prst="roundRect">
            <a:avLst>
              <a:gd name="adj" fmla="val 21818"/>
            </a:avLst>
          </a:prstGeom>
          <a:solidFill>
            <a:srgbClr val="A8E6C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3410712" y="2103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対象エリア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56432" y="274320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さいたま市内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27064" y="2011680"/>
            <a:ext cx="2697480" cy="2743200"/>
          </a:xfrm>
          <a:prstGeom prst="roundRect">
            <a:avLst>
              <a:gd name="adj" fmla="val 6102"/>
            </a:avLst>
          </a:prstGeom>
          <a:solidFill>
            <a:srgbClr val="FFF5E8"/>
          </a:solidFill>
          <a:ln w="19050">
            <a:solidFill>
              <a:srgbClr val="FFD6AA"/>
            </a:solidFill>
            <a:prstDash val="solid"/>
          </a:ln>
          <a:effectLst>
            <a:outerShdw blurRad="76200" dist="38100" dir="8100000" algn="bl" rotWithShape="0">
              <a:srgbClr val="E8C0C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318504" y="2103120"/>
            <a:ext cx="2514600" cy="502920"/>
          </a:xfrm>
          <a:prstGeom prst="roundRect">
            <a:avLst>
              <a:gd name="adj" fmla="val 21818"/>
            </a:avLst>
          </a:prstGeom>
          <a:solidFill>
            <a:srgbClr val="FFD6A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318504" y="21031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利用形態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64224" y="274320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スマートフォン・PCの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Webブラウザから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無料で利用可能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C3D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機能①  気分×時間でルートを自動生成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28016" cy="128016"/>
          </a:xfrm>
          <a:prstGeom prst="ellipse">
            <a:avLst/>
          </a:prstGeom>
          <a:solidFill>
            <a:srgbClr val="F7A8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704088" y="850392"/>
            <a:ext cx="128016" cy="128016"/>
          </a:xfrm>
          <a:prstGeom prst="ellipse">
            <a:avLst/>
          </a:prstGeom>
          <a:solidFill>
            <a:srgbClr val="C9B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905256" y="850392"/>
            <a:ext cx="128016" cy="128016"/>
          </a:xfrm>
          <a:prstGeom prst="ellipse">
            <a:avLst/>
          </a:prstGeom>
          <a:solidFill>
            <a:srgbClr val="A8E6C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106424" y="850392"/>
            <a:ext cx="128016" cy="128016"/>
          </a:xfrm>
          <a:prstGeom prst="ellipse">
            <a:avLst/>
          </a:prstGeom>
          <a:solidFill>
            <a:srgbClr val="FFD6A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307592" y="850392"/>
            <a:ext cx="128016" cy="128016"/>
          </a:xfrm>
          <a:prstGeom prst="ellipse">
            <a:avLst/>
          </a:prstGeom>
          <a:solidFill>
            <a:srgbClr val="A8D8E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5212080" cy="3794760"/>
          </a:xfrm>
          <a:prstGeom prst="roundRect">
            <a:avLst>
              <a:gd name="adj" fmla="val 4337"/>
            </a:avLst>
          </a:prstGeom>
          <a:solidFill>
            <a:srgbClr val="FEF0F4"/>
          </a:solidFill>
          <a:ln w="19050">
            <a:solidFill>
              <a:srgbClr val="F7A8B8"/>
            </a:solidFill>
            <a:prstDash val="solid"/>
          </a:ln>
          <a:effectLst>
            <a:outerShdw blurRad="76200" dist="38100" dir="8100000" algn="bl" rotWithShape="0">
              <a:srgbClr val="E8C0C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94360" y="123444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Feel（気分）を3種類から選択：cafe / nature / shopping</a:t>
            </a:r>
            <a:endParaRPr lang="en-US" sz="1400" dirty="0"/>
          </a:p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歩行時間を20〜60分の範囲でスライダー設定</a:t>
            </a:r>
            <a:endParaRPr lang="en-US" sz="1400" dirty="0"/>
          </a:p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スポットをランダム選択し、往路と復路で異なる道を通る周回ルートを生成</a:t>
            </a:r>
            <a:endParaRPr lang="en-US" sz="1400" dirty="0"/>
          </a:p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400" dirty="0" err="1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地図上にルートをリアルタイム描画</a:t>
            </a:r>
            <a:endParaRPr lang="en-US" sz="1400" dirty="0"/>
          </a:p>
          <a:p>
            <a:pPr marL="342900" indent="-342900" algn="l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毎回違うルートが提案されるため、飽きずに散歩を楽しめる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06440" y="1051560"/>
            <a:ext cx="2926080" cy="3794760"/>
          </a:xfrm>
          <a:prstGeom prst="roundRect">
            <a:avLst>
              <a:gd name="adj" fmla="val 5625"/>
            </a:avLst>
          </a:prstGeom>
          <a:solidFill>
            <a:srgbClr val="F3F0FF"/>
          </a:solidFill>
          <a:ln w="19050">
            <a:solidFill>
              <a:srgbClr val="C9B8F0"/>
            </a:solidFill>
            <a:prstDash val="solid"/>
          </a:ln>
          <a:effectLst>
            <a:outerShdw blurRad="76200" dist="38100" dir="8100000" algn="bl" rotWithShape="0">
              <a:srgbClr val="E8C0C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806440" y="11430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 を選ぶ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1645920"/>
            <a:ext cx="2395728" cy="502920"/>
          </a:xfrm>
          <a:prstGeom prst="roundRect">
            <a:avLst>
              <a:gd name="adj" fmla="val 21818"/>
            </a:avLst>
          </a:prstGeom>
          <a:solidFill>
            <a:srgbClr val="F7A8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080760" y="164592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80760" y="2286000"/>
            <a:ext cx="2395728" cy="502920"/>
          </a:xfrm>
          <a:prstGeom prst="roundRect">
            <a:avLst>
              <a:gd name="adj" fmla="val 21818"/>
            </a:avLst>
          </a:prstGeom>
          <a:solidFill>
            <a:srgbClr val="A8E6C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080760" y="228600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80760" y="2926080"/>
            <a:ext cx="2395728" cy="502920"/>
          </a:xfrm>
          <a:prstGeom prst="roundRect">
            <a:avLst>
              <a:gd name="adj" fmla="val 21818"/>
            </a:avLst>
          </a:prstGeom>
          <a:solidFill>
            <a:srgbClr val="C9B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080760" y="292608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C3D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機能②  さいたま市の施設情報をマップ上に表示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28016" cy="128016"/>
          </a:xfrm>
          <a:prstGeom prst="ellipse">
            <a:avLst/>
          </a:prstGeom>
          <a:solidFill>
            <a:srgbClr val="F7A8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704088" y="850392"/>
            <a:ext cx="128016" cy="128016"/>
          </a:xfrm>
          <a:prstGeom prst="ellipse">
            <a:avLst/>
          </a:prstGeom>
          <a:solidFill>
            <a:srgbClr val="C9B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905256" y="850392"/>
            <a:ext cx="128016" cy="128016"/>
          </a:xfrm>
          <a:prstGeom prst="ellipse">
            <a:avLst/>
          </a:prstGeom>
          <a:solidFill>
            <a:srgbClr val="A8E6C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106424" y="850392"/>
            <a:ext cx="128016" cy="128016"/>
          </a:xfrm>
          <a:prstGeom prst="ellipse">
            <a:avLst/>
          </a:prstGeom>
          <a:solidFill>
            <a:srgbClr val="FFD6A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307592" y="850392"/>
            <a:ext cx="128016" cy="128016"/>
          </a:xfrm>
          <a:prstGeom prst="ellipse">
            <a:avLst/>
          </a:prstGeom>
          <a:solidFill>
            <a:srgbClr val="A8D8E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8321040" cy="804672"/>
          </a:xfrm>
          <a:prstGeom prst="roundRect">
            <a:avLst>
              <a:gd name="adj" fmla="val 17045"/>
            </a:avLst>
          </a:prstGeom>
          <a:solidFill>
            <a:srgbClr val="FEF0F4"/>
          </a:solidFill>
          <a:ln w="19050">
            <a:solidFill>
              <a:srgbClr val="F7A8B8"/>
            </a:solidFill>
            <a:prstDash val="solid"/>
          </a:ln>
          <a:effectLst>
            <a:outerShdw blurRad="76200" dist="38100" dir="8100000" algn="bl" rotWithShape="0">
              <a:srgbClr val="E8C0C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F7A8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赤ちゃんトイレ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12161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おむつ替え台のある施設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12161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 err="1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さいたま市オープンデータ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1984248"/>
            <a:ext cx="8321040" cy="804672"/>
          </a:xfrm>
          <a:prstGeom prst="roundRect">
            <a:avLst>
              <a:gd name="adj" fmla="val 17045"/>
            </a:avLst>
          </a:prstGeom>
          <a:solidFill>
            <a:srgbClr val="F3F0FF"/>
          </a:solidFill>
          <a:ln w="19050">
            <a:solidFill>
              <a:srgbClr val="C9B8F0"/>
            </a:solidFill>
            <a:prstDash val="solid"/>
          </a:ln>
          <a:effectLst>
            <a:outerShdw blurRad="76200" dist="38100" dir="8100000" algn="bl" rotWithShape="0">
              <a:srgbClr val="E8C0C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548640" y="2121408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C9B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48640" y="2121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授乳室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2148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授乳スペースのある施設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7784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 err="1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さいたま市オープンデータ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2916936"/>
            <a:ext cx="8321040" cy="804672"/>
          </a:xfrm>
          <a:prstGeom prst="roundRect">
            <a:avLst>
              <a:gd name="adj" fmla="val 17045"/>
            </a:avLst>
          </a:prstGeom>
          <a:solidFill>
            <a:srgbClr val="EDFBF5"/>
          </a:solidFill>
          <a:ln w="19050">
            <a:solidFill>
              <a:srgbClr val="A8E6CF"/>
            </a:solidFill>
            <a:prstDash val="solid"/>
          </a:ln>
          <a:effectLst>
            <a:outerShdw blurRad="76200" dist="38100" dir="8100000" algn="bl" rotWithShape="0">
              <a:srgbClr val="E8C0C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548640" y="3054096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A8E6C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48640" y="30540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さいコイン加盟店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14600" y="3081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さいコイン</a:t>
            </a:r>
            <a:r>
              <a:rPr lang="en-US" sz="1400" dirty="0" err="1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利用可能店舗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0" y="3081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 err="1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さいたま市</a:t>
            </a:r>
            <a:r>
              <a:rPr lang="ja-JP" altLang="en-US" sz="1200" i="1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みんなのアプリ参考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3849624"/>
            <a:ext cx="8321040" cy="804672"/>
          </a:xfrm>
          <a:prstGeom prst="roundRect">
            <a:avLst>
              <a:gd name="adj" fmla="val 17045"/>
            </a:avLst>
          </a:prstGeom>
          <a:solidFill>
            <a:srgbClr val="FFF5E8"/>
          </a:solidFill>
          <a:ln w="19050">
            <a:solidFill>
              <a:srgbClr val="FFD6AA"/>
            </a:solidFill>
            <a:prstDash val="solid"/>
          </a:ln>
          <a:effectLst>
            <a:outerShdw blurRad="76200" dist="38100" dir="8100000" algn="bl" rotWithShape="0">
              <a:srgbClr val="E8C0C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548640" y="3986784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FFD6A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48640" y="39867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たまポン加盟店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14600" y="40142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400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たまポン</a:t>
            </a:r>
            <a:r>
              <a:rPr lang="en-US" sz="1400" dirty="0" err="1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利用可能店舗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77840" y="40142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ja-JP" sz="1200" i="1" dirty="0" err="1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さいたま市</a:t>
            </a:r>
            <a:r>
              <a:rPr lang="ja-JP" altLang="en-US" sz="1200" i="1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みんなのアプリ参考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チェックボックスで表示・非表示を切り替え可能。施設をタップすると詳細情報を確認できます。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C3D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本市施策との親和性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28016" cy="128016"/>
          </a:xfrm>
          <a:prstGeom prst="ellipse">
            <a:avLst/>
          </a:prstGeom>
          <a:solidFill>
            <a:srgbClr val="F7A8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704088" y="850392"/>
            <a:ext cx="128016" cy="128016"/>
          </a:xfrm>
          <a:prstGeom prst="ellipse">
            <a:avLst/>
          </a:prstGeom>
          <a:solidFill>
            <a:srgbClr val="C9B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905256" y="850392"/>
            <a:ext cx="128016" cy="128016"/>
          </a:xfrm>
          <a:prstGeom prst="ellipse">
            <a:avLst/>
          </a:prstGeom>
          <a:solidFill>
            <a:srgbClr val="A8E6C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106424" y="850392"/>
            <a:ext cx="128016" cy="128016"/>
          </a:xfrm>
          <a:prstGeom prst="ellipse">
            <a:avLst/>
          </a:prstGeom>
          <a:solidFill>
            <a:srgbClr val="FFD6A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307592" y="850392"/>
            <a:ext cx="128016" cy="128016"/>
          </a:xfrm>
          <a:prstGeom prst="ellipse">
            <a:avLst/>
          </a:prstGeom>
          <a:solidFill>
            <a:srgbClr val="A8D8E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8321040" cy="621792"/>
          </a:xfrm>
          <a:prstGeom prst="roundRect">
            <a:avLst>
              <a:gd name="adj" fmla="val 20588"/>
            </a:avLst>
          </a:prstGeom>
          <a:solidFill>
            <a:srgbClr val="FEF0F4"/>
          </a:solidFill>
          <a:ln w="19050">
            <a:solidFill>
              <a:srgbClr val="F7A8B8"/>
            </a:solidFill>
            <a:prstDash val="solid"/>
          </a:ln>
          <a:effectLst>
            <a:outerShdw blurRad="76200" dist="38100" dir="8100000" algn="bl" rotWithShape="0">
              <a:srgbClr val="E8C0C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548640" y="1143000"/>
            <a:ext cx="1920240" cy="420624"/>
          </a:xfrm>
          <a:prstGeom prst="roundRect">
            <a:avLst>
              <a:gd name="adj" fmla="val 21739"/>
            </a:avLst>
          </a:prstGeom>
          <a:solidFill>
            <a:srgbClr val="F7A8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48640" y="114300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オープンデータ活用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1161288"/>
            <a:ext cx="5989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埼玉県</a:t>
            </a:r>
            <a:r>
              <a:rPr lang="en-US" sz="1300" dirty="0" err="1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が公開する「赤ちゃんの駅」データ</a:t>
            </a:r>
            <a:r>
              <a:rPr lang="ja-JP" altLang="en-US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endParaRPr lang="en-US" altLang="ja-JP" sz="1300" dirty="0">
              <a:solidFill>
                <a:srgbClr val="7A5C6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buNone/>
            </a:pPr>
            <a:r>
              <a:rPr lang="ja-JP" altLang="en-US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たまポン・さいコイン</a:t>
            </a:r>
            <a:r>
              <a:rPr lang="en-US" sz="1300" dirty="0" err="1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加盟店データを直接活用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1801368"/>
            <a:ext cx="8321040" cy="621792"/>
          </a:xfrm>
          <a:prstGeom prst="roundRect">
            <a:avLst>
              <a:gd name="adj" fmla="val 20588"/>
            </a:avLst>
          </a:prstGeom>
          <a:solidFill>
            <a:srgbClr val="F3F0FF"/>
          </a:solidFill>
          <a:ln w="19050">
            <a:solidFill>
              <a:srgbClr val="C9B8F0"/>
            </a:solidFill>
            <a:prstDash val="solid"/>
          </a:ln>
          <a:effectLst>
            <a:outerShdw blurRad="76200" dist="38100" dir="8100000" algn="bl" rotWithShape="0">
              <a:srgbClr val="E8C0C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1892808"/>
            <a:ext cx="1920240" cy="420624"/>
          </a:xfrm>
          <a:prstGeom prst="roundRect">
            <a:avLst>
              <a:gd name="adj" fmla="val 21739"/>
            </a:avLst>
          </a:prstGeom>
          <a:solidFill>
            <a:srgbClr val="C9B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48640" y="189280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子育て支援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1911096"/>
            <a:ext cx="5989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赤ちゃん連れの外出不安を解消し、外出頻度・行動範囲の拡大を促進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2551176"/>
            <a:ext cx="8321040" cy="621792"/>
          </a:xfrm>
          <a:prstGeom prst="roundRect">
            <a:avLst>
              <a:gd name="adj" fmla="val 20588"/>
            </a:avLst>
          </a:prstGeom>
          <a:solidFill>
            <a:srgbClr val="EDFBF5"/>
          </a:solidFill>
          <a:ln w="19050">
            <a:solidFill>
              <a:srgbClr val="A8E6CF"/>
            </a:solidFill>
            <a:prstDash val="solid"/>
          </a:ln>
          <a:effectLst>
            <a:outerShdw blurRad="76200" dist="38100" dir="8100000" algn="bl" rotWithShape="0">
              <a:srgbClr val="E8C0C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548640" y="2642616"/>
            <a:ext cx="1920240" cy="420624"/>
          </a:xfrm>
          <a:prstGeom prst="roundRect">
            <a:avLst>
              <a:gd name="adj" fmla="val 21739"/>
            </a:avLst>
          </a:prstGeom>
          <a:solidFill>
            <a:srgbClr val="A8E6C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48640" y="264261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地域経済活性化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06040" y="2660904"/>
            <a:ext cx="5989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さいコイン・たまポン加盟店をルート上に可視化し、地元店舗への来店を促進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3300984"/>
            <a:ext cx="8321040" cy="621792"/>
          </a:xfrm>
          <a:prstGeom prst="roundRect">
            <a:avLst>
              <a:gd name="adj" fmla="val 20588"/>
            </a:avLst>
          </a:prstGeom>
          <a:solidFill>
            <a:srgbClr val="FFF5E8"/>
          </a:solidFill>
          <a:ln w="19050">
            <a:solidFill>
              <a:srgbClr val="FFD6AA"/>
            </a:solidFill>
            <a:prstDash val="solid"/>
          </a:ln>
          <a:effectLst>
            <a:outerShdw blurRad="76200" dist="38100" dir="8100000" algn="bl" rotWithShape="0">
              <a:srgbClr val="E8C0C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3392424"/>
            <a:ext cx="1920240" cy="420624"/>
          </a:xfrm>
          <a:prstGeom prst="roundRect">
            <a:avLst>
              <a:gd name="adj" fmla="val 21739"/>
            </a:avLst>
          </a:prstGeom>
          <a:solidFill>
            <a:srgbClr val="FFD6A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48640" y="339242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愛着醸成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06040" y="3410712"/>
            <a:ext cx="5989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地域のスポット・店舗・施設を「散歩」という日常行動で発見する体験を提供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4050792"/>
            <a:ext cx="8321040" cy="621792"/>
          </a:xfrm>
          <a:prstGeom prst="roundRect">
            <a:avLst>
              <a:gd name="adj" fmla="val 20588"/>
            </a:avLst>
          </a:prstGeom>
          <a:solidFill>
            <a:srgbClr val="EEF8FF"/>
          </a:solidFill>
          <a:ln w="19050">
            <a:solidFill>
              <a:srgbClr val="A8D8EA"/>
            </a:solidFill>
            <a:prstDash val="solid"/>
          </a:ln>
          <a:effectLst>
            <a:outerShdw blurRad="76200" dist="38100" dir="8100000" algn="bl" rotWithShape="0">
              <a:srgbClr val="E8C0C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548640" y="4142232"/>
            <a:ext cx="1920240" cy="420624"/>
          </a:xfrm>
          <a:prstGeom prst="roundRect">
            <a:avLst>
              <a:gd name="adj" fmla="val 21739"/>
            </a:avLst>
          </a:prstGeom>
          <a:solidFill>
            <a:srgbClr val="A8D8E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548640" y="414223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デジタル化推進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06040" y="4160520"/>
            <a:ext cx="5989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市のオープンデータをデジタルサービスに転換する好事例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C3D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さいたま市との協働で実現できること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28016" cy="128016"/>
          </a:xfrm>
          <a:prstGeom prst="ellipse">
            <a:avLst/>
          </a:prstGeom>
          <a:solidFill>
            <a:srgbClr val="F7A8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704088" y="850392"/>
            <a:ext cx="128016" cy="128016"/>
          </a:xfrm>
          <a:prstGeom prst="ellipse">
            <a:avLst/>
          </a:prstGeom>
          <a:solidFill>
            <a:srgbClr val="C9B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905256" y="850392"/>
            <a:ext cx="128016" cy="128016"/>
          </a:xfrm>
          <a:prstGeom prst="ellipse">
            <a:avLst/>
          </a:prstGeom>
          <a:solidFill>
            <a:srgbClr val="A8E6C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1106424" y="850392"/>
            <a:ext cx="128016" cy="128016"/>
          </a:xfrm>
          <a:prstGeom prst="ellipse">
            <a:avLst/>
          </a:prstGeom>
          <a:solidFill>
            <a:srgbClr val="FFD6A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307592" y="850392"/>
            <a:ext cx="128016" cy="128016"/>
          </a:xfrm>
          <a:prstGeom prst="ellipse">
            <a:avLst/>
          </a:prstGeom>
          <a:solidFill>
            <a:srgbClr val="A8D8E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420624" cy="420624"/>
          </a:xfrm>
          <a:prstGeom prst="ellipse">
            <a:avLst/>
          </a:prstGeom>
          <a:solidFill>
            <a:srgbClr val="F7A8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11480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1143000"/>
            <a:ext cx="1920240" cy="420624"/>
          </a:xfrm>
          <a:prstGeom prst="roundRect">
            <a:avLst>
              <a:gd name="adj" fmla="val 21739"/>
            </a:avLst>
          </a:prstGeom>
          <a:solidFill>
            <a:srgbClr val="FEF0F4"/>
          </a:solidFill>
          <a:ln w="19050">
            <a:solidFill>
              <a:srgbClr val="F7A8B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60120" y="114300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データ連携強化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1170432"/>
            <a:ext cx="5715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市が保有するさらなる施設情報（公園・子育て支援センター等）との連携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1709928"/>
            <a:ext cx="8321040" cy="0"/>
          </a:xfrm>
          <a:prstGeom prst="line">
            <a:avLst/>
          </a:prstGeom>
          <a:noFill/>
          <a:ln w="6350">
            <a:solidFill>
              <a:srgbClr val="F7A8B8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411480" y="1892808"/>
            <a:ext cx="420624" cy="420624"/>
          </a:xfrm>
          <a:prstGeom prst="ellipse">
            <a:avLst/>
          </a:prstGeom>
          <a:solidFill>
            <a:srgbClr val="C9B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1148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0120" y="1892808"/>
            <a:ext cx="1920240" cy="420624"/>
          </a:xfrm>
          <a:prstGeom prst="roundRect">
            <a:avLst>
              <a:gd name="adj" fmla="val 21739"/>
            </a:avLst>
          </a:prstGeom>
          <a:solidFill>
            <a:srgbClr val="F3F0FF"/>
          </a:solidFill>
          <a:ln w="19050">
            <a:solidFill>
              <a:srgbClr val="C9B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960120" y="189280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エリア拡大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1920240"/>
            <a:ext cx="5715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特定地区（大宮・浦和・岩槻等）ごとのルート提案への展開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2459736"/>
            <a:ext cx="8321040" cy="0"/>
          </a:xfrm>
          <a:prstGeom prst="line">
            <a:avLst/>
          </a:prstGeom>
          <a:noFill/>
          <a:ln w="6350">
            <a:solidFill>
              <a:srgbClr val="F7A8B8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411480" y="2642616"/>
            <a:ext cx="420624" cy="420624"/>
          </a:xfrm>
          <a:prstGeom prst="ellipse">
            <a:avLst/>
          </a:prstGeom>
          <a:solidFill>
            <a:srgbClr val="A8E6C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11480" y="2642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60120" y="2642616"/>
            <a:ext cx="1920240" cy="420624"/>
          </a:xfrm>
          <a:prstGeom prst="roundRect">
            <a:avLst>
              <a:gd name="adj" fmla="val 21739"/>
            </a:avLst>
          </a:prstGeom>
          <a:solidFill>
            <a:srgbClr val="EDFBF5"/>
          </a:solidFill>
          <a:ln w="19050">
            <a:solidFill>
              <a:srgbClr val="A8E6C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960120" y="264261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多言語対応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2670048"/>
            <a:ext cx="5715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外国人居住者・観光客向けへの英語・多言語展開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" y="3209544"/>
            <a:ext cx="8321040" cy="0"/>
          </a:xfrm>
          <a:prstGeom prst="line">
            <a:avLst/>
          </a:prstGeom>
          <a:noFill/>
          <a:ln w="6350">
            <a:solidFill>
              <a:srgbClr val="F7A8B8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411480" y="3392424"/>
            <a:ext cx="420624" cy="420624"/>
          </a:xfrm>
          <a:prstGeom prst="ellipse">
            <a:avLst/>
          </a:prstGeom>
          <a:solidFill>
            <a:srgbClr val="FFD6A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41148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60120" y="3392424"/>
            <a:ext cx="1920240" cy="420624"/>
          </a:xfrm>
          <a:prstGeom prst="roundRect">
            <a:avLst>
              <a:gd name="adj" fmla="val 21739"/>
            </a:avLst>
          </a:prstGeom>
          <a:solidFill>
            <a:srgbClr val="FFF5E8"/>
          </a:solidFill>
          <a:ln w="19050">
            <a:solidFill>
              <a:srgbClr val="FFD6A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960120" y="339242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データ収集・分析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17520" y="3419856"/>
            <a:ext cx="5715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ユーザーの散歩ルートデータを集約し、子育て世代の行動分析への活用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11480" y="3959352"/>
            <a:ext cx="8321040" cy="0"/>
          </a:xfrm>
          <a:prstGeom prst="line">
            <a:avLst/>
          </a:prstGeom>
          <a:noFill/>
          <a:ln w="6350">
            <a:solidFill>
              <a:srgbClr val="F7A8B8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Shape 30"/>
          <p:cNvSpPr/>
          <p:nvPr/>
        </p:nvSpPr>
        <p:spPr>
          <a:xfrm>
            <a:off x="411480" y="4142232"/>
            <a:ext cx="420624" cy="420624"/>
          </a:xfrm>
          <a:prstGeom prst="ellipse">
            <a:avLst/>
          </a:prstGeom>
          <a:solidFill>
            <a:srgbClr val="A8D8E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411480" y="4142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60120" y="4142232"/>
            <a:ext cx="1920240" cy="420624"/>
          </a:xfrm>
          <a:prstGeom prst="roundRect">
            <a:avLst>
              <a:gd name="adj" fmla="val 21739"/>
            </a:avLst>
          </a:prstGeom>
          <a:solidFill>
            <a:srgbClr val="EEF8FF"/>
          </a:solidFill>
          <a:ln w="19050">
            <a:solidFill>
              <a:srgbClr val="A8D8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960120" y="414223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市公式連携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017520" y="4169664"/>
            <a:ext cx="5715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さいたま市子育てポータルサイトへの掲載・連携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D0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C9B8F0">
              <a:alpha val="5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-914400" y="2926080"/>
            <a:ext cx="3657600" cy="3657600"/>
          </a:xfrm>
          <a:prstGeom prst="ellipse">
            <a:avLst/>
          </a:prstGeom>
          <a:solidFill>
            <a:srgbClr val="A8E6CF">
              <a:alpha val="4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3474720" y="-731520"/>
            <a:ext cx="2743200" cy="2743200"/>
          </a:xfrm>
          <a:prstGeom prst="ellipse">
            <a:avLst/>
          </a:prstGeom>
          <a:solidFill>
            <a:srgbClr val="FFD6AA">
              <a:alpha val="4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02920" y="25603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C3D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Walking With Baby がさいたまにもたらすもの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2697480" cy="292608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25400">
            <a:solidFill>
              <a:srgbClr val="F7A8B8"/>
            </a:solidFill>
            <a:prstDash val="solid"/>
          </a:ln>
          <a:effectLst>
            <a:outerShdw blurRad="101600" dist="38100" dir="8100000" algn="bl" rotWithShape="0">
              <a:srgbClr val="D8A0B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640080" cy="475488"/>
          </a:xfrm>
          <a:prstGeom prst="roundRect">
            <a:avLst>
              <a:gd name="adj" fmla="val 19231"/>
            </a:avLst>
          </a:prstGeom>
          <a:solidFill>
            <a:srgbClr val="F7A8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子育て世代の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「外出の一歩」を後押し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安心して外出できる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情報基盤を提供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19272" y="1005840"/>
            <a:ext cx="2697480" cy="292608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25400">
            <a:solidFill>
              <a:srgbClr val="C9B8F0"/>
            </a:solidFill>
            <a:prstDash val="solid"/>
          </a:ln>
          <a:effectLst>
            <a:outerShdw blurRad="101600" dist="38100" dir="8100000" algn="bl" rotWithShape="0">
              <a:srgbClr val="D8A0B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456432" y="1097280"/>
            <a:ext cx="640080" cy="475488"/>
          </a:xfrm>
          <a:prstGeom prst="roundRect">
            <a:avLst>
              <a:gd name="adj" fmla="val 19231"/>
            </a:avLst>
          </a:prstGeom>
          <a:solidFill>
            <a:srgbClr val="C9B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456432" y="109728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56432" y="16916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地域への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愛着・定着を促進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56432" y="27889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地元スポットを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「自分の足で発見」する体験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27064" y="1005840"/>
            <a:ext cx="2697480" cy="292608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25400">
            <a:solidFill>
              <a:srgbClr val="A8E6CF"/>
            </a:solidFill>
            <a:prstDash val="solid"/>
          </a:ln>
          <a:effectLst>
            <a:outerShdw blurRad="101600" dist="38100" dir="8100000" algn="bl" rotWithShape="0">
              <a:srgbClr val="D8A0B0">
                <a:alpha val="2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364224" y="1097280"/>
            <a:ext cx="640080" cy="475488"/>
          </a:xfrm>
          <a:prstGeom prst="roundRect">
            <a:avLst>
              <a:gd name="adj" fmla="val 19231"/>
            </a:avLst>
          </a:prstGeom>
          <a:solidFill>
            <a:srgbClr val="A8E6C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364224" y="109728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64224" y="169164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市のオープンデータ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5C3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活用の好事例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64224" y="27889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行政データが市民の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7A5C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日常生活に直結する仕組み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71600" y="4160520"/>
            <a:ext cx="6400800" cy="594360"/>
          </a:xfrm>
          <a:prstGeom prst="roundRect">
            <a:avLst>
              <a:gd name="adj" fmla="val 23077"/>
            </a:avLst>
          </a:prstGeom>
          <a:solidFill>
            <a:srgbClr val="F7A8B8">
              <a:alpha val="7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1371600" y="41605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E07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赤ちゃんと一緒に歩くことで、さいたまがもっと好きになる。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259</Words>
  <Application>Microsoft Office PowerPoint</Application>
  <PresentationFormat>画面に合わせる (16:9)</PresentationFormat>
  <Paragraphs>107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1" baseType="lpstr">
      <vt:lpstr>Arial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Walking With Baby 提案資料</dc:title>
  <dc:subject>PptxGenJS Presentation</dc:subject>
  <dc:creator>Walking With Baby</dc:creator>
  <cp:lastModifiedBy>Satomi Iijima</cp:lastModifiedBy>
  <cp:revision>11</cp:revision>
  <dcterms:created xsi:type="dcterms:W3CDTF">2026-05-18T07:27:04Z</dcterms:created>
  <dcterms:modified xsi:type="dcterms:W3CDTF">2026-05-18T07:46:25Z</dcterms:modified>
</cp:coreProperties>
</file>